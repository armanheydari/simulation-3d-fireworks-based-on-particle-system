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1"/>
  </p:notesMasterIdLst>
  <p:sldIdLst>
    <p:sldId id="256" r:id="rId2"/>
    <p:sldId id="257" r:id="rId3"/>
    <p:sldId id="275" r:id="rId4"/>
    <p:sldId id="278" r:id="rId5"/>
    <p:sldId id="276" r:id="rId6"/>
    <p:sldId id="279" r:id="rId7"/>
    <p:sldId id="277" r:id="rId8"/>
    <p:sldId id="271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0AE15-DD34-4852-929A-58E2BD5C816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AAF0-C333-4182-8008-D30C84E60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6A5B-BBDA-478C-8D29-DB1BCB9B08D7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5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D01-6783-4867-8996-D2166BA45366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2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962E-056C-42B3-BFB4-36A0586CCD72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6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718F5-1CF2-4133-B7B1-44B4CC5083E4}" type="datetime1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4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DB91-05AB-4DC9-89DA-41D65AB8FA14}" type="datetime1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9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A9242-A8C0-4C5F-935C-CF0FADB41B96}" type="datetime1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3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47C0-E510-4313-A83B-83C22BE9A20C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6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DBE4-CEDA-4481-9645-3E212E6CDFF1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E1D51-D3EA-404B-9E15-DB330D2AA419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9A00-921B-4EEA-A9F8-41A0F342A26D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1695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906F-B3EC-489D-A2DB-FEBE7C35BE47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76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3660-94BC-4461-B71C-12877D1632CC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1512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1D7E-7F6A-45E2-BA62-4273F2BA1EA8}" type="datetime1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19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5A8F-C5CB-4780-B7C2-50C94D714DB5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82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1962-96EE-4D07-B402-7D43D51BE00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7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C331A-9555-4A81-9A1E-D0A41D33A342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3E52D4C-1EA9-4B53-8542-8B3D8C37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6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gl-tutorial.org/intermediate-tutorials/billboards-particles/particles-instancing/" TargetMode="External"/><Relationship Id="rId2" Type="http://schemas.openxmlformats.org/officeDocument/2006/relationships/hyperlink" Target="https://doi.org/10.1002/cav.28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rateekvjoshi.com/2013/06/06/what-is-k-means-clustering/" TargetMode="External"/><Relationship Id="rId4" Type="http://schemas.openxmlformats.org/officeDocument/2006/relationships/hyperlink" Target="https://www.istockphoto.com/photos/large-firework-explosion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910883"/>
            <a:ext cx="8915399" cy="2262781"/>
          </a:xfrm>
        </p:spPr>
        <p:txBody>
          <a:bodyPr>
            <a:normAutofit/>
          </a:bodyPr>
          <a:lstStyle/>
          <a:p>
            <a:r>
              <a:rPr lang="en-US" dirty="0"/>
              <a:t>Simulation 3D Fireworks Based on </a:t>
            </a:r>
            <a:r>
              <a:rPr lang="en-US" dirty="0" smtClean="0"/>
              <a:t>Particles </a:t>
            </a:r>
            <a:r>
              <a:rPr lang="en-US" dirty="0"/>
              <a:t>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3488789"/>
            <a:ext cx="8915399" cy="2414874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Course: </a:t>
            </a:r>
            <a:r>
              <a:rPr lang="en-US" dirty="0" smtClean="0"/>
              <a:t>Computer Graphics</a:t>
            </a:r>
            <a:endParaRPr lang="en-US" dirty="0" smtClean="0"/>
          </a:p>
          <a:p>
            <a:pPr algn="ctr"/>
            <a:r>
              <a:rPr lang="en-US" dirty="0" smtClean="0"/>
              <a:t>Professor: Dr. Ian </a:t>
            </a:r>
            <a:r>
              <a:rPr lang="en-US" dirty="0" err="1" smtClean="0"/>
              <a:t>Stavness</a:t>
            </a:r>
            <a:endParaRPr lang="en-US" dirty="0"/>
          </a:p>
          <a:p>
            <a:pPr algn="ctr"/>
            <a:r>
              <a:rPr lang="en-US" dirty="0" smtClean="0"/>
              <a:t>Student: Arman Heydari</a:t>
            </a:r>
          </a:p>
          <a:p>
            <a:endParaRPr lang="en-US" dirty="0"/>
          </a:p>
          <a:p>
            <a:r>
              <a:rPr lang="en-US" dirty="0"/>
              <a:t>Zhao, H., Fan, R., Wang, C. C. L., </a:t>
            </a:r>
            <a:r>
              <a:rPr lang="en-US" dirty="0" err="1"/>
              <a:t>Jin</a:t>
            </a:r>
            <a:r>
              <a:rPr lang="en-US" dirty="0"/>
              <a:t>, X., &amp; </a:t>
            </a:r>
            <a:r>
              <a:rPr lang="en-US" dirty="0" err="1"/>
              <a:t>Meng</a:t>
            </a:r>
            <a:r>
              <a:rPr lang="en-US" dirty="0"/>
              <a:t>, Y. (2009). Fireworks controller.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B010-3AAA-4B62-9C71-039E4095B482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8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Goal: construct a shape with particles after a fire explosion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99924"/>
            <a:ext cx="4602780" cy="19922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302" y="2199923"/>
            <a:ext cx="1882310" cy="30923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452" y="2199924"/>
            <a:ext cx="2284375" cy="225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2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Mesh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Each particle is a little quad, it can be a sphere or something.</a:t>
            </a:r>
          </a:p>
          <a:p>
            <a:pPr algn="just"/>
            <a:r>
              <a:rPr lang="en-US" dirty="0" smtClean="0"/>
              <a:t>call </a:t>
            </a:r>
            <a:r>
              <a:rPr lang="en-US" dirty="0" err="1"/>
              <a:t>glDrawArrays</a:t>
            </a:r>
            <a:r>
              <a:rPr lang="en-US" dirty="0"/>
              <a:t> once for each </a:t>
            </a:r>
            <a:r>
              <a:rPr lang="en-US" dirty="0" smtClean="0"/>
              <a:t>particle </a:t>
            </a:r>
            <a:r>
              <a:rPr lang="en-US" dirty="0" smtClean="0">
                <a:sym typeface="Wingdings" panose="05000000000000000000" pitchFamily="2" charset="2"/>
              </a:rPr>
              <a:t> very bad idea, all multiprocessors use to just draw a single quad.</a:t>
            </a:r>
          </a:p>
          <a:p>
            <a:pPr algn="just"/>
            <a:r>
              <a:rPr lang="en-US" dirty="0"/>
              <a:t>base mesh (in our case, a simple quad of 2 triangles), but many instances of this </a:t>
            </a:r>
            <a:r>
              <a:rPr lang="en-US" dirty="0" smtClean="0"/>
              <a:t>quad (10000).</a:t>
            </a:r>
          </a:p>
          <a:p>
            <a:pPr algn="just"/>
            <a:r>
              <a:rPr lang="en-US" dirty="0" smtClean="0"/>
              <a:t>buffers: </a:t>
            </a:r>
            <a:r>
              <a:rPr lang="en-US" dirty="0"/>
              <a:t>for the vertices of the </a:t>
            </a:r>
            <a:r>
              <a:rPr lang="en-US" dirty="0" smtClean="0"/>
              <a:t>mesh, </a:t>
            </a:r>
            <a:r>
              <a:rPr lang="en-US" dirty="0"/>
              <a:t>particles’ </a:t>
            </a:r>
            <a:r>
              <a:rPr lang="en-US" dirty="0" smtClean="0"/>
              <a:t>centers, </a:t>
            </a:r>
            <a:r>
              <a:rPr lang="en-US" dirty="0"/>
              <a:t> particles’ </a:t>
            </a:r>
            <a:r>
              <a:rPr lang="en-US" dirty="0" smtClean="0"/>
              <a:t>colors.</a:t>
            </a:r>
          </a:p>
          <a:p>
            <a:pPr algn="just"/>
            <a:r>
              <a:rPr lang="en-US" dirty="0"/>
              <a:t>use </a:t>
            </a:r>
            <a:r>
              <a:rPr lang="en-US" dirty="0" err="1"/>
              <a:t>glDrawArrraysInstanced</a:t>
            </a:r>
            <a:r>
              <a:rPr lang="en-US" dirty="0"/>
              <a:t> / </a:t>
            </a:r>
            <a:r>
              <a:rPr lang="en-US" dirty="0" err="1"/>
              <a:t>glDrawElementsInstanced</a:t>
            </a:r>
            <a:r>
              <a:rPr lang="en-US" dirty="0"/>
              <a:t>, which is equivalent to calling </a:t>
            </a:r>
            <a:r>
              <a:rPr lang="en-US" dirty="0" err="1"/>
              <a:t>glDrawArrays</a:t>
            </a:r>
            <a:r>
              <a:rPr lang="en-US" dirty="0"/>
              <a:t> N </a:t>
            </a:r>
            <a:r>
              <a:rPr lang="en-US" dirty="0" smtClean="0"/>
              <a:t>times. But works parallel for buffers.</a:t>
            </a:r>
            <a:endParaRPr lang="en-US" dirty="0" smtClean="0">
              <a:sym typeface="Wingdings" panose="05000000000000000000" pitchFamily="2" charset="2"/>
            </a:endParaRP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8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/>
          <a:lstStyle/>
          <a:p>
            <a:r>
              <a:rPr lang="en-US" dirty="0" smtClean="0"/>
              <a:t>Random direction for each axis.</a:t>
            </a:r>
          </a:p>
          <a:p>
            <a:r>
              <a:rPr lang="en-US" dirty="0" smtClean="0"/>
              <a:t>Random value for initialize velocity, shouldn’t be so small. </a:t>
            </a:r>
          </a:p>
          <a:p>
            <a:r>
              <a:rPr lang="en-US" dirty="0" smtClean="0"/>
              <a:t>(</a:t>
            </a:r>
            <a:r>
              <a:rPr lang="en-US" dirty="0"/>
              <a:t>Tutorial not Paper)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2,500+ Large Firework Explosion Stock Photos, Pictures &amp; Royalty-Free 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267" y="2997106"/>
            <a:ext cx="3023723" cy="302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61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Physics Formulas after the explosion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47446"/>
            <a:ext cx="8915400" cy="4363776"/>
          </a:xfrm>
        </p:spPr>
        <p:txBody>
          <a:bodyPr/>
          <a:lstStyle/>
          <a:p>
            <a:r>
              <a:rPr lang="en-US" dirty="0"/>
              <a:t>M: initial mass of a particle,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</a:t>
            </a:r>
            <a:r>
              <a:rPr lang="en-US" dirty="0"/>
              <a:t>: gravity acceleration,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</a:t>
            </a:r>
            <a:r>
              <a:rPr lang="en-US" dirty="0"/>
              <a:t>: lifetime of the particle,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T0: time it takes to reach the cluster,</a:t>
            </a:r>
            <a:br>
              <a:rPr lang="en-US" dirty="0" smtClean="0"/>
            </a:br>
            <a:r>
              <a:rPr lang="en-US" dirty="0" smtClean="0"/>
              <a:t>t</a:t>
            </a:r>
            <a:r>
              <a:rPr lang="en-US" dirty="0"/>
              <a:t>: time spend after explosion,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k</a:t>
            </a:r>
            <a:r>
              <a:rPr lang="en-US" dirty="0"/>
              <a:t>: air friction coefficient,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</a:t>
            </a:r>
            <a:r>
              <a:rPr lang="en-US" dirty="0"/>
              <a:t>: distance of the point at t=0 with the </a:t>
            </a:r>
            <a:r>
              <a:rPr lang="en-US" dirty="0" smtClean="0"/>
              <a:t>cluster</a:t>
            </a:r>
          </a:p>
          <a:p>
            <a:r>
              <a:rPr lang="en-US" dirty="0" smtClean="0"/>
              <a:t>X,Z axis: (different S on each, but same formula)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738" y="4328051"/>
            <a:ext cx="2838831" cy="158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4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1926" y="1730140"/>
            <a:ext cx="8915400" cy="3777622"/>
          </a:xfrm>
        </p:spPr>
        <p:txBody>
          <a:bodyPr/>
          <a:lstStyle/>
          <a:p>
            <a:r>
              <a:rPr lang="en-US" dirty="0" smtClean="0"/>
              <a:t>Clustering: </a:t>
            </a:r>
            <a:r>
              <a:rPr lang="en-US" dirty="0" err="1" smtClean="0"/>
              <a:t>kmeans</a:t>
            </a:r>
            <a:r>
              <a:rPr lang="en-US" dirty="0" smtClean="0"/>
              <a:t>, </a:t>
            </a:r>
            <a:br>
              <a:rPr lang="en-US" dirty="0" smtClean="0"/>
            </a:br>
            <a:r>
              <a:rPr lang="en-US" dirty="0" smtClean="0"/>
              <a:t>iterative method for finding </a:t>
            </a:r>
            <a:br>
              <a:rPr lang="en-US" dirty="0" smtClean="0"/>
            </a:br>
            <a:r>
              <a:rPr lang="en-US" dirty="0" smtClean="0"/>
              <a:t>center of point groups.</a:t>
            </a:r>
          </a:p>
          <a:p>
            <a:r>
              <a:rPr lang="en-US" dirty="0" smtClean="0"/>
              <a:t>Implemented in the</a:t>
            </a:r>
            <a:br>
              <a:rPr lang="en-US" dirty="0" smtClean="0"/>
            </a:br>
            <a:r>
              <a:rPr lang="en-US" dirty="0" smtClean="0"/>
              <a:t>application based on</a:t>
            </a:r>
            <a:br>
              <a:rPr lang="en-US" dirty="0" smtClean="0"/>
            </a:br>
            <a:r>
              <a:rPr lang="en-US" dirty="0" smtClean="0"/>
              <a:t>input mesh vertices.</a:t>
            </a:r>
          </a:p>
          <a:p>
            <a:r>
              <a:rPr lang="en-US" dirty="0" err="1" smtClean="0"/>
              <a:t>Hyperparameters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number of clusters,</a:t>
            </a:r>
            <a:br>
              <a:rPr lang="en-US" dirty="0" smtClean="0"/>
            </a:br>
            <a:r>
              <a:rPr lang="en-US" dirty="0" smtClean="0"/>
              <a:t>iteration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m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689" y="1730140"/>
            <a:ext cx="3612637" cy="218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822" y="2320300"/>
            <a:ext cx="165758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6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Physics Formulas after the explosion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47446"/>
            <a:ext cx="8915400" cy="4363776"/>
          </a:xfrm>
        </p:spPr>
        <p:txBody>
          <a:bodyPr/>
          <a:lstStyle/>
          <a:p>
            <a:r>
              <a:rPr lang="en-US" dirty="0"/>
              <a:t>M: initial mass of a particle,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</a:t>
            </a:r>
            <a:r>
              <a:rPr lang="en-US" dirty="0"/>
              <a:t>: gravity acceleration,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</a:t>
            </a:r>
            <a:r>
              <a:rPr lang="en-US" dirty="0"/>
              <a:t>: lifetime of the particle,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T0: time it takes to reach the cluster,</a:t>
            </a:r>
            <a:br>
              <a:rPr lang="en-US" dirty="0" smtClean="0"/>
            </a:br>
            <a:r>
              <a:rPr lang="en-US" dirty="0" smtClean="0"/>
              <a:t>t</a:t>
            </a:r>
            <a:r>
              <a:rPr lang="en-US" dirty="0"/>
              <a:t>: time spend after explosion,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k</a:t>
            </a:r>
            <a:r>
              <a:rPr lang="en-US" dirty="0"/>
              <a:t>: air friction coefficient,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</a:t>
            </a:r>
            <a:r>
              <a:rPr lang="en-US" dirty="0"/>
              <a:t>: distance of the point at t=0 with the </a:t>
            </a:r>
            <a:r>
              <a:rPr lang="en-US" dirty="0" smtClean="0"/>
              <a:t>cluster</a:t>
            </a:r>
          </a:p>
          <a:p>
            <a:r>
              <a:rPr lang="en-US" dirty="0" smtClean="0"/>
              <a:t>Y axis (k issue in the paper, so ignored in implementation):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91" y="4141714"/>
            <a:ext cx="4639242" cy="884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578" y="5045816"/>
            <a:ext cx="4000920" cy="9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8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Zhao, H., Fan, R., Wang, C. C. L., </a:t>
            </a:r>
            <a:r>
              <a:rPr lang="en-US" dirty="0" err="1"/>
              <a:t>Jin</a:t>
            </a:r>
            <a:r>
              <a:rPr lang="en-US" dirty="0"/>
              <a:t>, X., &amp; </a:t>
            </a:r>
            <a:r>
              <a:rPr lang="en-US" dirty="0" err="1"/>
              <a:t>Meng</a:t>
            </a:r>
            <a:r>
              <a:rPr lang="en-US" dirty="0"/>
              <a:t>, Y. (2009). Fireworks controller. </a:t>
            </a:r>
            <a:r>
              <a:rPr lang="en-US" i="1" dirty="0"/>
              <a:t>Computer Animation and Virtual Worlds, 20</a:t>
            </a:r>
            <a:r>
              <a:rPr lang="en-US" dirty="0"/>
              <a:t>, 185-194.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doi.org/10.1002/cav.287</a:t>
            </a:r>
            <a:endParaRPr lang="en-US" dirty="0" smtClean="0"/>
          </a:p>
          <a:p>
            <a:pPr algn="just"/>
            <a:r>
              <a:rPr lang="en-US" dirty="0">
                <a:hlinkClick r:id="rId3"/>
              </a:rPr>
              <a:t>https://www.opengl-tutorial.org/intermediate-tutorials/billboards-particles/particles-instancing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algn="just"/>
            <a:r>
              <a:rPr lang="en-US" dirty="0"/>
              <a:t>Hall, J. D., &amp; Hart, J. C. (2004). GPU Acceleration of Iterative Clustering. </a:t>
            </a:r>
            <a:r>
              <a:rPr lang="en-US" i="1" dirty="0"/>
              <a:t>University of Illinois at </a:t>
            </a:r>
            <a:r>
              <a:rPr lang="en-US" i="1" dirty="0" smtClean="0"/>
              <a:t>Urbana-Champaign.</a:t>
            </a:r>
            <a:endParaRPr lang="en-US" dirty="0" smtClean="0"/>
          </a:p>
          <a:p>
            <a:pPr algn="just"/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www.istockphoto.com/photos/large-firework-explosion</a:t>
            </a:r>
            <a:endParaRPr lang="en-US" dirty="0" smtClean="0"/>
          </a:p>
          <a:p>
            <a:pPr algn="just"/>
            <a:r>
              <a:rPr lang="en-US" dirty="0">
                <a:hlinkClick r:id="rId5"/>
              </a:rPr>
              <a:t>https://prateekvjoshi.com/2013/06/06/what-is-k-means-clustering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9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059238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Result Videos attached.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Thanks for listening!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Any questions?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8D3-6553-444B-B062-D431AD3A466C}" type="datetime1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Arman Heydari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52D4C-1EA9-4B53-8542-8B3D8C375D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053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1218</TotalTime>
  <Words>260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Wingdings</vt:lpstr>
      <vt:lpstr>Wingdings 3</vt:lpstr>
      <vt:lpstr>Wisp</vt:lpstr>
      <vt:lpstr>Simulation 3D Fireworks Based on Particles System</vt:lpstr>
      <vt:lpstr>Goal: construct a shape with particles after a fire explosion</vt:lpstr>
      <vt:lpstr>Instance Mesh Algorithm</vt:lpstr>
      <vt:lpstr>Explosion</vt:lpstr>
      <vt:lpstr>Physics Formulas after the explosion</vt:lpstr>
      <vt:lpstr>Sampling</vt:lpstr>
      <vt:lpstr>Physics Formulas after the explosion</vt:lpstr>
      <vt:lpstr>References</vt:lpstr>
      <vt:lpstr> Result Videos attached.  Thanks for listening! 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Permutation Matching in Binary Strings</dc:title>
  <dc:creator>Arman</dc:creator>
  <cp:lastModifiedBy>Arman</cp:lastModifiedBy>
  <cp:revision>57</cp:revision>
  <dcterms:created xsi:type="dcterms:W3CDTF">2023-12-03T19:50:05Z</dcterms:created>
  <dcterms:modified xsi:type="dcterms:W3CDTF">2023-12-06T18:25:28Z</dcterms:modified>
</cp:coreProperties>
</file>